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67" r:id="rId5"/>
    <p:sldId id="257" r:id="rId6"/>
    <p:sldId id="259" r:id="rId7"/>
    <p:sldId id="260" r:id="rId8"/>
    <p:sldId id="261" r:id="rId9"/>
    <p:sldId id="262" r:id="rId10"/>
    <p:sldId id="265" r:id="rId11"/>
    <p:sldId id="263" r:id="rId12"/>
  </p:sldIdLst>
  <p:sldSz cx="9144000" cy="5143500"/>
  <p:notesSz cx="6858000" cy="9144000"/>
  <p:embeddedFontLst>
    <p:embeddedFont>
      <p:font typeface="Space Grotesk Medium"/>
      <p:regular r:id="rId16"/>
      <p:bold r:id="rId17"/>
    </p:embeddedFont>
    <p:embeddedFont>
      <p:font typeface="Space Grotesk SemiBold"/>
      <p:bold r:id="rId18"/>
    </p:embeddedFont>
    <p:embeddedFont>
      <p:font typeface="Space Grotesk"/>
      <p:bold r:id="rId19"/>
    </p:embeddedFont>
    <p:embeddedFont>
      <p:font typeface="Inter Medium" panose="02000503000000020004"/>
      <p:regular r:id="rId20"/>
      <p:bold r:id="rId21"/>
      <p:italic r:id="rId22"/>
      <p:boldItalic r:id="rId23"/>
    </p:embeddedFont>
    <p:embeddedFont>
      <p:font typeface="Inter SemiBold" panose="02000503000000020004"/>
      <p:bold r:id="rId24"/>
      <p:italic r:id="rId25"/>
      <p:boldItalic r:id="rId26"/>
    </p:embeddedFont>
    <p:embeddedFont>
      <p:font typeface="Inter" panose="02000503000000020004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15.fntdata"/><Relationship Id="rId3" Type="http://schemas.openxmlformats.org/officeDocument/2006/relationships/slide" Target="slides/slide1.xml"/><Relationship Id="rId29" Type="http://schemas.openxmlformats.org/officeDocument/2006/relationships/font" Target="fonts/font14.fntdata"/><Relationship Id="rId28" Type="http://schemas.openxmlformats.org/officeDocument/2006/relationships/font" Target="fonts/font13.fntdata"/><Relationship Id="rId27" Type="http://schemas.openxmlformats.org/officeDocument/2006/relationships/font" Target="fonts/font12.fntdata"/><Relationship Id="rId26" Type="http://schemas.openxmlformats.org/officeDocument/2006/relationships/font" Target="fonts/font11.fntdata"/><Relationship Id="rId25" Type="http://schemas.openxmlformats.org/officeDocument/2006/relationships/font" Target="fonts/font10.fntdata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cec498ce2_2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cec498ce2_2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cec498ce2_18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cec498ce2_18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>
                <a:ea typeface="宋体" panose="02010600030101010101" pitchFamily="2" charset="-122"/>
              </a:rPr>
              <a:t>分为叫牌和出牌两个部分。小于，巨大惩罚。大于，巨大奖励，超墩惩罚。记得提及叫</a:t>
            </a:r>
            <a:r>
              <a:rPr lang="en-US" altLang="zh-CN">
                <a:ea typeface="宋体" panose="02010600030101010101" pitchFamily="2" charset="-122"/>
              </a:rPr>
              <a:t>0.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cec498ce2_20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cec498ce2_2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cec498ce2_18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cec498ce2_18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cec498ce2_17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cec498ce2_17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cec498ce2_16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cec498ce2_16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cec498ce2_15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ecec498ce2_15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cec498ce2_15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ecec498ce2_15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cec498ce2_14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ecec498ce2_14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cec498ce2_13_0)">
  <p:cSld name="Generated (g3ecec498ce2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1" Type="http://schemas.openxmlformats.org/officeDocument/2006/relationships/notesSlide" Target="../notesSlides/notesSlide3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6" name="Google Shape;56;p1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/>
          <p:nvPr/>
        </p:nvSpPr>
        <p:spPr>
          <a:xfrm>
            <a:off x="45529500" y="6762750"/>
            <a:ext cx="48006000" cy="63031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cubicBezTo>
                  <a:pt x="60000" y="0"/>
                  <a:pt x="0" y="42857"/>
                  <a:pt x="0" y="68571"/>
                </a:cubicBezTo>
                <a:cubicBezTo>
                  <a:pt x="0" y="87507"/>
                  <a:pt x="20147" y="102857"/>
                  <a:pt x="45000" y="102857"/>
                </a:cubicBezTo>
                <a:cubicBezTo>
                  <a:pt x="50554" y="102857"/>
                  <a:pt x="55873" y="102087"/>
                  <a:pt x="60754" y="100689"/>
                </a:cubicBezTo>
                <a:lnTo>
                  <a:pt x="52500" y="120000"/>
                </a:lnTo>
                <a:lnTo>
                  <a:pt x="67500" y="120000"/>
                </a:lnTo>
                <a:lnTo>
                  <a:pt x="59246" y="100689"/>
                </a:lnTo>
                <a:cubicBezTo>
                  <a:pt x="64127" y="102087"/>
                  <a:pt x="69446" y="102857"/>
                  <a:pt x="75000" y="102857"/>
                </a:cubicBezTo>
                <a:cubicBezTo>
                  <a:pt x="99853" y="102857"/>
                  <a:pt x="120000" y="87507"/>
                  <a:pt x="120000" y="68571"/>
                </a:cubicBezTo>
                <a:cubicBezTo>
                  <a:pt x="120000" y="42857"/>
                  <a:pt x="60000" y="0"/>
                  <a:pt x="60000" y="0"/>
                </a:cubicBezTo>
                <a:close/>
              </a:path>
            </a:pathLst>
          </a:custGeom>
          <a:solidFill>
            <a:srgbClr val="06B6D4">
              <a:alpha val="6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8" name="Google Shape;58;p14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59" name="Google Shape;59;p14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0" name="Google Shape;60;p14"/>
            <p:cNvSpPr txBox="1"/>
            <p:nvPr/>
          </p:nvSpPr>
          <p:spPr>
            <a:xfrm>
              <a:off x="381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 b="0">
                  <a:solidFill>
                    <a:srgbClr val="64748B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Deep Learning Project Report</a:t>
              </a:r>
              <a:endParaRPr sz="750" b="0">
                <a:solidFill>
                  <a:srgbClr val="64748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1" name="Google Shape;61;p14"/>
            <p:cNvSpPr txBox="1"/>
            <p:nvPr/>
          </p:nvSpPr>
          <p:spPr>
            <a:xfrm>
              <a:off x="4953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 b="0">
                  <a:solidFill>
                    <a:srgbClr val="64748B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2026-06-06</a:t>
              </a:r>
              <a:endParaRPr sz="750" b="0">
                <a:solidFill>
                  <a:srgbClr val="64748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62" name="Google Shape;62;p14"/>
          <p:cNvSpPr txBox="1"/>
          <p:nvPr/>
        </p:nvSpPr>
        <p:spPr>
          <a:xfrm>
            <a:off x="762000" y="1047750"/>
            <a:ext cx="76200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06B6D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Deep Learning Project Report</a:t>
            </a:r>
            <a:endParaRPr sz="1000" b="0">
              <a:solidFill>
                <a:srgbClr val="06B6D4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Towards Lightweight Human-Level AI in Spades</a:t>
            </a:r>
            <a:endParaRPr sz="1000" b="0">
              <a:solidFill>
                <a:srgbClr val="06B6D4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400" b="0">
                <a:solidFill>
                  <a:srgbClr val="CBD5E1"/>
                </a:solidFill>
                <a:latin typeface="Inter Medium" panose="02000503000000020004"/>
                <a:ea typeface="Inter Medium" panose="02000503000000020004"/>
                <a:cs typeface="Inter Medium" panose="02000503000000020004"/>
                <a:sym typeface="Inter Medium" panose="02000503000000020004"/>
              </a:rPr>
              <a:t>Deep Learning Project Report</a:t>
            </a:r>
            <a:endParaRPr sz="1000" b="0">
              <a:solidFill>
                <a:srgbClr val="06B6D4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rgbClr val="94A3B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Project Members</a:t>
            </a:r>
            <a:endParaRPr sz="1100" b="0">
              <a:solidFill>
                <a:srgbClr val="94A3B8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>
                <a:solidFill>
                  <a:srgbClr val="FFFFFF"/>
                </a:solidFill>
                <a:latin typeface="Inter Medium" panose="02000503000000020004"/>
                <a:ea typeface="Inter Medium" panose="02000503000000020004"/>
                <a:cs typeface="Inter Medium" panose="02000503000000020004"/>
                <a:sym typeface="Inter Medium" panose="02000503000000020004"/>
              </a:rPr>
              <a:t>Haoren Luo, Bangjie Xu, Yueyang Wang</a:t>
            </a:r>
            <a:endParaRPr sz="1300" b="0">
              <a:solidFill>
                <a:srgbClr val="FFFFFF"/>
              </a:solidFill>
              <a:latin typeface="Inter Medium" panose="02000503000000020004"/>
              <a:ea typeface="Inter Medium" panose="02000503000000020004"/>
              <a:cs typeface="Inter Medium" panose="02000503000000020004"/>
              <a:sym typeface="Inter Medium" panose="02000503000000020004"/>
            </a:endParaRPr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rgbClr val="FFFFFF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Goal:</a:t>
            </a:r>
            <a:r>
              <a:rPr lang="en-GB" sz="1100" b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Achieving human-level AI performance in Spades.</a:t>
            </a:r>
            <a:endParaRPr sz="1000" b="0">
              <a:solidFill>
                <a:srgbClr val="06B6D4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rgbClr val="FFFFFF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Approach:</a:t>
            </a:r>
            <a:r>
              <a:rPr lang="en-GB" sz="1100" b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Hybrid architecture bridging RL and exact search solvers.</a:t>
            </a:r>
            <a:endParaRPr sz="1000" b="0">
              <a:solidFill>
                <a:srgbClr val="06B6D4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rgbClr val="FFFFFF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Result:</a:t>
            </a:r>
            <a:r>
              <a:rPr lang="en-GB" sz="1100" b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Human-level performance with under 5s execution on a single CPU core.</a:t>
            </a:r>
            <a:endParaRPr sz="1000" b="0">
              <a:solidFill>
                <a:srgbClr val="06B6D4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7" name="Google Shape;137;p1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4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Spades Rules Crash Course</a:t>
            </a:r>
            <a:endParaRPr sz="2400" b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350" b="0">
              <a:solidFill>
                <a:srgbClr val="06B6D4"/>
              </a:solidFill>
              <a:latin typeface="Inter Medium" panose="02000503000000020004"/>
              <a:ea typeface="Inter Medium" panose="02000503000000020004"/>
              <a:cs typeface="Inter Medium" panose="02000503000000020004"/>
              <a:sym typeface="Inter Medium" panose="02000503000000020004"/>
            </a:endParaRPr>
          </a:p>
        </p:txBody>
      </p:sp>
      <p:grpSp>
        <p:nvGrpSpPr>
          <p:cNvPr id="168" name="Google Shape;168;p17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169" name="Google Shape;169;p17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0" name="Google Shape;170;p17"/>
            <p:cNvSpPr txBox="1"/>
            <p:nvPr/>
          </p:nvSpPr>
          <p:spPr>
            <a:xfrm>
              <a:off x="381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 b="0">
                  <a:solidFill>
                    <a:srgbClr val="64748B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Deep Learning Project Report</a:t>
              </a:r>
              <a:endParaRPr sz="750" b="0">
                <a:solidFill>
                  <a:srgbClr val="64748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71" name="Google Shape;171;p17"/>
            <p:cNvSpPr txBox="1"/>
            <p:nvPr/>
          </p:nvSpPr>
          <p:spPr>
            <a:xfrm>
              <a:off x="4953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 b="0">
                  <a:solidFill>
                    <a:srgbClr val="64748B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2026-06-06</a:t>
              </a:r>
              <a:endParaRPr sz="750" b="0">
                <a:solidFill>
                  <a:srgbClr val="64748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405" y="835025"/>
            <a:ext cx="6981825" cy="3927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15"/>
          <p:cNvCxnSpPr/>
          <p:nvPr/>
        </p:nvCxnSpPr>
        <p:spPr>
          <a:xfrm>
            <a:off x="381000" y="4762500"/>
            <a:ext cx="83820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" name="Google Shape;70;p15"/>
          <p:cNvSpPr txBox="1"/>
          <p:nvPr/>
        </p:nvSpPr>
        <p:spPr>
          <a:xfrm>
            <a:off x="381000" y="485775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0">
                <a:solidFill>
                  <a:srgbClr val="64748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Deep Learning Project Report</a:t>
            </a:r>
            <a:endParaRPr sz="750" b="0">
              <a:solidFill>
                <a:srgbClr val="64748B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4953000" y="485775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0">
                <a:solidFill>
                  <a:srgbClr val="64748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2026-06-06</a:t>
            </a:r>
            <a:endParaRPr sz="750" b="0">
              <a:solidFill>
                <a:srgbClr val="64748B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81000" y="381000"/>
            <a:ext cx="8382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Challenges Of Spades AI</a:t>
            </a:r>
            <a:endParaRPr sz="2400" b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350" b="0">
                <a:solidFill>
                  <a:srgbClr val="06B6D4"/>
                </a:solidFill>
                <a:latin typeface="Inter Medium" panose="02000503000000020004"/>
                <a:ea typeface="Inter Medium" panose="02000503000000020004"/>
                <a:cs typeface="Inter Medium" panose="02000503000000020004"/>
                <a:sym typeface="Inter Medium" panose="02000503000000020004"/>
              </a:rPr>
              <a:t>Complex state spaces and non-linear logic in multi-agent environments</a:t>
            </a:r>
            <a:endParaRPr sz="1350" b="0">
              <a:solidFill>
                <a:srgbClr val="06B6D4"/>
              </a:solidFill>
              <a:latin typeface="Inter Medium" panose="02000503000000020004"/>
              <a:ea typeface="Inter Medium" panose="02000503000000020004"/>
              <a:cs typeface="Inter Medium" panose="02000503000000020004"/>
              <a:sym typeface="Inter Medium" panose="02000503000000020004"/>
            </a:endParaRPr>
          </a:p>
        </p:txBody>
      </p:sp>
      <p:grpSp>
        <p:nvGrpSpPr>
          <p:cNvPr id="73" name="Google Shape;73;p15"/>
          <p:cNvGrpSpPr/>
          <p:nvPr>
            <p:custDataLst>
              <p:tags r:id="rId2"/>
            </p:custDataLst>
          </p:nvPr>
        </p:nvGrpSpPr>
        <p:grpSpPr>
          <a:xfrm>
            <a:off x="381000" y="1524000"/>
            <a:ext cx="2667000" cy="2286000"/>
            <a:chOff x="0" y="0"/>
            <a:chExt cx="2667000" cy="2286000"/>
          </a:xfrm>
        </p:grpSpPr>
        <p:sp>
          <p:nvSpPr>
            <p:cNvPr id="74" name="Google Shape;74;p15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2667000" cy="2286000"/>
            </a:xfrm>
            <a:prstGeom prst="roundRect">
              <a:avLst>
                <a:gd name="adj" fmla="val 3333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75" name="Google Shape;75;p15"/>
            <p:cNvGrpSpPr/>
            <p:nvPr/>
          </p:nvGrpSpPr>
          <p:grpSpPr>
            <a:xfrm>
              <a:off x="209550" y="228600"/>
              <a:ext cx="190500" cy="152400"/>
              <a:chOff x="19050" y="38100"/>
              <a:chExt cx="190500" cy="152400"/>
            </a:xfrm>
          </p:grpSpPr>
          <p:sp>
            <p:nvSpPr>
              <p:cNvPr id="76" name="Google Shape;76;p15"/>
              <p:cNvSpPr/>
              <p:nvPr>
                <p:custDataLst>
                  <p:tags r:id="rId4"/>
                </p:custDataLst>
              </p:nvPr>
            </p:nvSpPr>
            <p:spPr>
              <a:xfrm>
                <a:off x="76200" y="76200"/>
                <a:ext cx="76200" cy="762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7" name="Google Shape;77;p15"/>
              <p:cNvSpPr/>
              <p:nvPr>
                <p:custDataLst>
                  <p:tags r:id="rId5"/>
                </p:custDataLst>
              </p:nvPr>
            </p:nvSpPr>
            <p:spPr>
              <a:xfrm>
                <a:off x="19050" y="38100"/>
                <a:ext cx="38100" cy="381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8" name="Google Shape;78;p15"/>
              <p:cNvSpPr/>
              <p:nvPr>
                <p:custDataLst>
                  <p:tags r:id="rId6"/>
                </p:custDataLst>
              </p:nvPr>
            </p:nvSpPr>
            <p:spPr>
              <a:xfrm>
                <a:off x="19050" y="152400"/>
                <a:ext cx="38100" cy="381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9" name="Google Shape;79;p15"/>
              <p:cNvSpPr/>
              <p:nvPr>
                <p:custDataLst>
                  <p:tags r:id="rId7"/>
                </p:custDataLst>
              </p:nvPr>
            </p:nvSpPr>
            <p:spPr>
              <a:xfrm>
                <a:off x="171450" y="38100"/>
                <a:ext cx="38100" cy="381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" name="Google Shape;80;p15"/>
              <p:cNvSpPr/>
              <p:nvPr>
                <p:custDataLst>
                  <p:tags r:id="rId8"/>
                </p:custDataLst>
              </p:nvPr>
            </p:nvSpPr>
            <p:spPr>
              <a:xfrm>
                <a:off x="171450" y="152400"/>
                <a:ext cx="38100" cy="381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cxnSp>
            <p:nvCxnSpPr>
              <p:cNvPr id="81" name="Google Shape;81;p15"/>
              <p:cNvCxnSpPr/>
              <p:nvPr>
                <p:custDataLst>
                  <p:tags r:id="rId9"/>
                </p:custDataLst>
              </p:nvPr>
            </p:nvCxnSpPr>
            <p:spPr>
              <a:xfrm>
                <a:off x="52388" y="71438"/>
                <a:ext cx="42900" cy="285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2" name="Google Shape;82;p15"/>
              <p:cNvCxnSpPr/>
              <p:nvPr>
                <p:custDataLst>
                  <p:tags r:id="rId10"/>
                </p:custDataLst>
              </p:nvPr>
            </p:nvCxnSpPr>
            <p:spPr>
              <a:xfrm rot="10800000" flipH="1">
                <a:off x="52388" y="128663"/>
                <a:ext cx="42900" cy="285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3" name="Google Shape;83;p15"/>
              <p:cNvCxnSpPr/>
              <p:nvPr>
                <p:custDataLst>
                  <p:tags r:id="rId11"/>
                </p:custDataLst>
              </p:nvPr>
            </p:nvCxnSpPr>
            <p:spPr>
              <a:xfrm flipH="1">
                <a:off x="133313" y="71438"/>
                <a:ext cx="42900" cy="285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" name="Google Shape;84;p15"/>
              <p:cNvCxnSpPr/>
              <p:nvPr>
                <p:custDataLst>
                  <p:tags r:id="rId12"/>
                </p:custDataLst>
              </p:nvPr>
            </p:nvCxnSpPr>
            <p:spPr>
              <a:xfrm rot="10800000">
                <a:off x="133313" y="128663"/>
                <a:ext cx="42900" cy="285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85" name="Google Shape;85;p15"/>
            <p:cNvSpPr txBox="1"/>
            <p:nvPr>
              <p:custDataLst>
                <p:tags r:id="rId13"/>
              </p:custDataLst>
            </p:nvPr>
          </p:nvSpPr>
          <p:spPr>
            <a:xfrm>
              <a:off x="190500" y="571500"/>
              <a:ext cx="2286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b="0">
                  <a:solidFill>
                    <a:srgbClr val="FFFFFF"/>
                  </a:solidFill>
                  <a:latin typeface="Inter SemiBold" panose="02000503000000020004"/>
                  <a:ea typeface="Inter SemiBold" panose="02000503000000020004"/>
                  <a:cs typeface="Inter SemiBold" panose="02000503000000020004"/>
                  <a:sym typeface="Inter SemiBold" panose="02000503000000020004"/>
                </a:rPr>
                <a:t>Massive Imperfect Information</a:t>
              </a:r>
              <a:endParaRPr b="0">
                <a:solidFill>
                  <a:srgbClr val="FFFFFF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lang="en-GB" b="0">
                  <a:solidFill>
                    <a:srgbClr val="CBD5E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Management of hidden state spaces and complex hidden hand distributions requires robust belief modeling.</a:t>
              </a:r>
              <a:endParaRPr lang="en-GB" b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  <p:grpSp>
        <p:nvGrpSpPr>
          <p:cNvPr id="86" name="Google Shape;86;p15"/>
          <p:cNvGrpSpPr/>
          <p:nvPr>
            <p:custDataLst>
              <p:tags r:id="rId14"/>
            </p:custDataLst>
          </p:nvPr>
        </p:nvGrpSpPr>
        <p:grpSpPr>
          <a:xfrm>
            <a:off x="3238500" y="1524000"/>
            <a:ext cx="2667000" cy="2286000"/>
            <a:chOff x="0" y="0"/>
            <a:chExt cx="2667000" cy="2286000"/>
          </a:xfrm>
        </p:grpSpPr>
        <p:sp>
          <p:nvSpPr>
            <p:cNvPr id="87" name="Google Shape;87;p15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2667000" cy="2286000"/>
            </a:xfrm>
            <a:prstGeom prst="roundRect">
              <a:avLst>
                <a:gd name="adj" fmla="val 3333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88;p15"/>
            <p:cNvSpPr/>
            <p:nvPr>
              <p:custDataLst>
                <p:tags r:id="rId16"/>
              </p:custDataLst>
            </p:nvPr>
          </p:nvSpPr>
          <p:spPr>
            <a:xfrm>
              <a:off x="228600" y="209550"/>
              <a:ext cx="152400" cy="200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cubicBezTo>
                    <a:pt x="60000" y="0"/>
                    <a:pt x="0" y="42857"/>
                    <a:pt x="0" y="68571"/>
                  </a:cubicBezTo>
                  <a:cubicBezTo>
                    <a:pt x="0" y="87507"/>
                    <a:pt x="20147" y="102857"/>
                    <a:pt x="45000" y="102857"/>
                  </a:cubicBezTo>
                  <a:cubicBezTo>
                    <a:pt x="50554" y="102857"/>
                    <a:pt x="55873" y="102087"/>
                    <a:pt x="60754" y="100689"/>
                  </a:cubicBezTo>
                  <a:lnTo>
                    <a:pt x="52500" y="120000"/>
                  </a:lnTo>
                  <a:lnTo>
                    <a:pt x="67500" y="120000"/>
                  </a:lnTo>
                  <a:lnTo>
                    <a:pt x="59246" y="100689"/>
                  </a:lnTo>
                  <a:cubicBezTo>
                    <a:pt x="64127" y="102087"/>
                    <a:pt x="69446" y="102857"/>
                    <a:pt x="75000" y="102857"/>
                  </a:cubicBezTo>
                  <a:cubicBezTo>
                    <a:pt x="99853" y="102857"/>
                    <a:pt x="120000" y="87507"/>
                    <a:pt x="120000" y="68571"/>
                  </a:cubicBezTo>
                  <a:cubicBezTo>
                    <a:pt x="120000" y="42857"/>
                    <a:pt x="60000" y="0"/>
                    <a:pt x="6000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89;p15"/>
            <p:cNvSpPr txBox="1"/>
            <p:nvPr>
              <p:custDataLst>
                <p:tags r:id="rId17"/>
              </p:custDataLst>
            </p:nvPr>
          </p:nvSpPr>
          <p:spPr>
            <a:xfrm>
              <a:off x="190500" y="571500"/>
              <a:ext cx="2286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b="0">
                  <a:solidFill>
                    <a:srgbClr val="FFFFFF"/>
                  </a:solidFill>
                  <a:latin typeface="Inter SemiBold" panose="02000503000000020004"/>
                  <a:ea typeface="Inter SemiBold" panose="02000503000000020004"/>
                  <a:cs typeface="Inter SemiBold" panose="02000503000000020004"/>
                  <a:sym typeface="Inter SemiBold" panose="02000503000000020004"/>
                </a:rPr>
                <a:t>Non-Linear Scoring Dynamics</a:t>
              </a:r>
              <a:endParaRPr b="0">
                <a:solidFill>
                  <a:srgbClr val="FFFFFF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lang="en-GB" b="0">
                  <a:solidFill>
                    <a:srgbClr val="CBD5E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Nil bids and immediate overtrick penalties demand extreme precision; small tactical errors lead to catastrophic point loss.</a:t>
              </a:r>
              <a:endParaRPr lang="en-GB" b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  <p:grpSp>
        <p:nvGrpSpPr>
          <p:cNvPr id="90" name="Google Shape;90;p15"/>
          <p:cNvGrpSpPr/>
          <p:nvPr>
            <p:custDataLst>
              <p:tags r:id="rId18"/>
            </p:custDataLst>
          </p:nvPr>
        </p:nvGrpSpPr>
        <p:grpSpPr>
          <a:xfrm>
            <a:off x="6096000" y="1524000"/>
            <a:ext cx="2667000" cy="2286000"/>
            <a:chOff x="0" y="0"/>
            <a:chExt cx="2667000" cy="2286000"/>
          </a:xfrm>
        </p:grpSpPr>
        <p:sp>
          <p:nvSpPr>
            <p:cNvPr id="91" name="Google Shape;91;p15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2667000" cy="2286000"/>
            </a:xfrm>
            <a:prstGeom prst="roundRect">
              <a:avLst>
                <a:gd name="adj" fmla="val 3333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92" name="Google Shape;92;p15"/>
            <p:cNvGrpSpPr/>
            <p:nvPr/>
          </p:nvGrpSpPr>
          <p:grpSpPr>
            <a:xfrm>
              <a:off x="209550" y="228600"/>
              <a:ext cx="190500" cy="152400"/>
              <a:chOff x="19050" y="38100"/>
              <a:chExt cx="190500" cy="152400"/>
            </a:xfrm>
          </p:grpSpPr>
          <p:sp>
            <p:nvSpPr>
              <p:cNvPr id="93" name="Google Shape;93;p1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" y="76200"/>
                <a:ext cx="76200" cy="762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" name="Google Shape;94;p15"/>
              <p:cNvSpPr/>
              <p:nvPr>
                <p:custDataLst>
                  <p:tags r:id="rId21"/>
                </p:custDataLst>
              </p:nvPr>
            </p:nvSpPr>
            <p:spPr>
              <a:xfrm>
                <a:off x="19050" y="38100"/>
                <a:ext cx="38100" cy="381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" name="Google Shape;95;p15"/>
              <p:cNvSpPr/>
              <p:nvPr>
                <p:custDataLst>
                  <p:tags r:id="rId22"/>
                </p:custDataLst>
              </p:nvPr>
            </p:nvSpPr>
            <p:spPr>
              <a:xfrm>
                <a:off x="19050" y="152400"/>
                <a:ext cx="38100" cy="381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" name="Google Shape;96;p15"/>
              <p:cNvSpPr/>
              <p:nvPr>
                <p:custDataLst>
                  <p:tags r:id="rId23"/>
                </p:custDataLst>
              </p:nvPr>
            </p:nvSpPr>
            <p:spPr>
              <a:xfrm>
                <a:off x="171450" y="38100"/>
                <a:ext cx="38100" cy="381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" name="Google Shape;97;p15"/>
              <p:cNvSpPr/>
              <p:nvPr>
                <p:custDataLst>
                  <p:tags r:id="rId24"/>
                </p:custDataLst>
              </p:nvPr>
            </p:nvSpPr>
            <p:spPr>
              <a:xfrm>
                <a:off x="171450" y="152400"/>
                <a:ext cx="38100" cy="381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cxnSp>
            <p:nvCxnSpPr>
              <p:cNvPr id="98" name="Google Shape;98;p15"/>
              <p:cNvCxnSpPr/>
              <p:nvPr>
                <p:custDataLst>
                  <p:tags r:id="rId25"/>
                </p:custDataLst>
              </p:nvPr>
            </p:nvCxnSpPr>
            <p:spPr>
              <a:xfrm>
                <a:off x="52388" y="71438"/>
                <a:ext cx="42900" cy="285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9" name="Google Shape;99;p15"/>
              <p:cNvCxnSpPr/>
              <p:nvPr>
                <p:custDataLst>
                  <p:tags r:id="rId26"/>
                </p:custDataLst>
              </p:nvPr>
            </p:nvCxnSpPr>
            <p:spPr>
              <a:xfrm rot="10800000" flipH="1">
                <a:off x="52388" y="128663"/>
                <a:ext cx="42900" cy="285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0" name="Google Shape;100;p15"/>
              <p:cNvCxnSpPr/>
              <p:nvPr>
                <p:custDataLst>
                  <p:tags r:id="rId27"/>
                </p:custDataLst>
              </p:nvPr>
            </p:nvCxnSpPr>
            <p:spPr>
              <a:xfrm flipH="1">
                <a:off x="133313" y="71438"/>
                <a:ext cx="42900" cy="285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1" name="Google Shape;101;p15"/>
              <p:cNvCxnSpPr/>
              <p:nvPr>
                <p:custDataLst>
                  <p:tags r:id="rId28"/>
                </p:custDataLst>
              </p:nvPr>
            </p:nvCxnSpPr>
            <p:spPr>
              <a:xfrm rot="10800000">
                <a:off x="133313" y="128663"/>
                <a:ext cx="42900" cy="285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102" name="Google Shape;102;p15"/>
            <p:cNvSpPr txBox="1"/>
            <p:nvPr>
              <p:custDataLst>
                <p:tags r:id="rId29"/>
              </p:custDataLst>
            </p:nvPr>
          </p:nvSpPr>
          <p:spPr>
            <a:xfrm>
              <a:off x="190500" y="571500"/>
              <a:ext cx="2286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b="0">
                  <a:solidFill>
                    <a:srgbClr val="FFFFFF"/>
                  </a:solidFill>
                  <a:latin typeface="Inter SemiBold" panose="02000503000000020004"/>
                  <a:ea typeface="Inter SemiBold" panose="02000503000000020004"/>
                  <a:cs typeface="Inter SemiBold" panose="02000503000000020004"/>
                  <a:sym typeface="Inter SemiBold" panose="02000503000000020004"/>
                </a:rPr>
                <a:t>Endgame Reasoning</a:t>
              </a:r>
              <a:endParaRPr b="0">
                <a:solidFill>
                  <a:srgbClr val="FFFFFF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lang="en-GB" b="0">
                  <a:solidFill>
                    <a:srgbClr val="CBD5E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End-to-end Deep Reinforcement Learning often fails to execute the precise logical reasoning required for late-game card counting.</a:t>
              </a:r>
              <a:endParaRPr lang="en-GB" b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7" name="Google Shape;137;p1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Neural Bidding Architecture</a:t>
            </a:r>
            <a:endParaRPr sz="2400" b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350" b="0">
                <a:solidFill>
                  <a:srgbClr val="06B6D4"/>
                </a:solidFill>
                <a:latin typeface="Inter Medium" panose="02000503000000020004"/>
                <a:ea typeface="Inter Medium" panose="02000503000000020004"/>
                <a:cs typeface="Inter Medium" panose="02000503000000020004"/>
                <a:sym typeface="Inter Medium" panose="02000503000000020004"/>
              </a:rPr>
              <a:t>Multi-stage training for Spade's bidding policy</a:t>
            </a:r>
            <a:endParaRPr sz="1350" b="0">
              <a:solidFill>
                <a:srgbClr val="06B6D4"/>
              </a:solidFill>
              <a:latin typeface="Inter Medium" panose="02000503000000020004"/>
              <a:ea typeface="Inter Medium" panose="02000503000000020004"/>
              <a:cs typeface="Inter Medium" panose="02000503000000020004"/>
              <a:sym typeface="Inter Medium" panose="02000503000000020004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381000" y="1333500"/>
            <a:ext cx="4000500" cy="3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30" b="0">
                <a:solidFill>
                  <a:srgbClr val="F59E0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Architecture Details</a:t>
            </a:r>
            <a:endParaRPr sz="1030" b="0">
              <a:solidFill>
                <a:srgbClr val="F59E0B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Model Structure:</a:t>
            </a:r>
            <a:r>
              <a:rPr lang="en-GB" b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4-layer MLP designed to predict probabilities for Normal and Nil bids simultaneously.</a:t>
            </a:r>
            <a:endParaRPr b="0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030" b="0">
                <a:solidFill>
                  <a:srgbClr val="F59E0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Training Pipeline</a:t>
            </a:r>
            <a:endParaRPr sz="1030" b="0">
              <a:solidFill>
                <a:srgbClr val="F59E0B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marL="457200" lvl="0" indent="-317500" algn="l" rtl="0">
              <a:spcBef>
                <a:spcPts val="300"/>
              </a:spcBef>
              <a:spcAft>
                <a:spcPts val="0"/>
              </a:spcAft>
              <a:buSzPts val="1400"/>
              <a:buChar char="●"/>
            </a:pPr>
            <a:r>
              <a:rPr lang="en-GB" b="1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1. Supervised Pre-training:</a:t>
            </a:r>
            <a:r>
              <a:rPr lang="en-GB" b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Initializing weights using the DDS (Deep Deal Simulator) expert dataset to learn basic game conventions.</a:t>
            </a:r>
            <a:endParaRPr b="0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457200" lvl="0" indent="-317500" algn="l" rtl="0">
              <a:spcBef>
                <a:spcPts val="900"/>
              </a:spcBef>
              <a:spcAft>
                <a:spcPts val="900"/>
              </a:spcAft>
              <a:buSzPts val="1400"/>
              <a:buChar char="●"/>
            </a:pPr>
            <a:r>
              <a:rPr lang="en-GB" b="1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2. RL Fine-tuning:</a:t>
            </a:r>
            <a:r>
              <a:rPr lang="en-GB" b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Utilizing Neural Fictitious Self-Play (NFSP) to optimize strategic decision-making and robustness against diverse opponents.</a:t>
            </a:r>
            <a:endParaRPr lang="en-GB" b="0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168" name="Google Shape;168;p17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169" name="Google Shape;169;p17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0" name="Google Shape;170;p17"/>
            <p:cNvSpPr txBox="1"/>
            <p:nvPr/>
          </p:nvSpPr>
          <p:spPr>
            <a:xfrm>
              <a:off x="381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 b="0">
                  <a:solidFill>
                    <a:srgbClr val="64748B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Deep Learning Project Report</a:t>
              </a:r>
              <a:endParaRPr sz="750" b="0">
                <a:solidFill>
                  <a:srgbClr val="64748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71" name="Google Shape;171;p17"/>
            <p:cNvSpPr txBox="1"/>
            <p:nvPr/>
          </p:nvSpPr>
          <p:spPr>
            <a:xfrm>
              <a:off x="4953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 b="0">
                  <a:solidFill>
                    <a:srgbClr val="64748B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2026-06-06</a:t>
              </a:r>
              <a:endParaRPr sz="750" b="0">
                <a:solidFill>
                  <a:srgbClr val="64748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pic>
        <p:nvPicPr>
          <p:cNvPr id="2" name="Google Shape;163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829649" y="1333500"/>
            <a:ext cx="386621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77" name="Google Shape;177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Reinforcement Learning Policy</a:t>
            </a:r>
            <a:endParaRPr sz="2400" b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350" b="0">
                <a:solidFill>
                  <a:srgbClr val="06B6D4"/>
                </a:solidFill>
                <a:latin typeface="Inter Medium" panose="02000503000000020004"/>
                <a:ea typeface="Inter Medium" panose="02000503000000020004"/>
                <a:cs typeface="Inter Medium" panose="02000503000000020004"/>
                <a:sym typeface="Inter Medium" panose="02000503000000020004"/>
              </a:rPr>
              <a:t>Early-game strategy and architectural efficiency</a:t>
            </a:r>
            <a:endParaRPr sz="1350" b="0">
              <a:solidFill>
                <a:srgbClr val="06B6D4"/>
              </a:solidFill>
              <a:latin typeface="Inter Medium" panose="02000503000000020004"/>
              <a:ea typeface="Inter Medium" panose="02000503000000020004"/>
              <a:cs typeface="Inter Medium" panose="02000503000000020004"/>
              <a:sym typeface="Inter Medium" panose="02000503000000020004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381000" y="1524000"/>
            <a:ext cx="40005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b="1">
                <a:solidFill>
                  <a:schemeClr val="bg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Policy Scope:</a:t>
            </a:r>
            <a:r>
              <a:rPr lang="en-GB" b="0">
                <a:solidFill>
                  <a:schemeClr val="bg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Focuses on executing the first 4 tricks of the game to establish lead.</a:t>
            </a:r>
            <a:endParaRPr b="0">
              <a:solidFill>
                <a:schemeClr val="bg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457200" lvl="0" indent="-317500" algn="l" rtl="0">
              <a:spcBef>
                <a:spcPts val="900"/>
              </a:spcBef>
              <a:spcAft>
                <a:spcPts val="0"/>
              </a:spcAft>
              <a:buSzPts val="1400"/>
              <a:buChar char="●"/>
            </a:pPr>
            <a:r>
              <a:rPr lang="en-GB" b="1">
                <a:solidFill>
                  <a:schemeClr val="bg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State Encoding:</a:t>
            </a:r>
            <a:r>
              <a:rPr lang="en-GB" b="0">
                <a:solidFill>
                  <a:schemeClr val="bg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Utilizes a 264-dimensional public vector for environment observation.</a:t>
            </a:r>
            <a:endParaRPr b="0">
              <a:solidFill>
                <a:schemeClr val="bg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457200" lvl="0" indent="-317500" algn="l" rtl="0">
              <a:spcBef>
                <a:spcPts val="900"/>
              </a:spcBef>
              <a:spcAft>
                <a:spcPts val="900"/>
              </a:spcAft>
              <a:buSzPts val="1400"/>
              <a:buChar char="●"/>
            </a:pPr>
            <a:r>
              <a:rPr lang="en-GB" b="1">
                <a:solidFill>
                  <a:schemeClr val="bg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Training Efficiency:</a:t>
            </a:r>
            <a:r>
              <a:rPr lang="en-GB" b="0">
                <a:solidFill>
                  <a:schemeClr val="bg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Achieves 20-minute convergence via optimized reward shaping.</a:t>
            </a:r>
            <a:endParaRPr lang="en-GB" b="0">
              <a:solidFill>
                <a:schemeClr val="bg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195" name="Google Shape;195;p18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196" name="Google Shape;196;p18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97" name="Google Shape;197;p18"/>
            <p:cNvSpPr txBox="1"/>
            <p:nvPr/>
          </p:nvSpPr>
          <p:spPr>
            <a:xfrm>
              <a:off x="381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 b="0">
                  <a:solidFill>
                    <a:srgbClr val="64748B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Deep Learning Project Report</a:t>
              </a:r>
              <a:endParaRPr sz="750" b="0">
                <a:solidFill>
                  <a:srgbClr val="64748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98" name="Google Shape;198;p18"/>
            <p:cNvSpPr txBox="1"/>
            <p:nvPr/>
          </p:nvSpPr>
          <p:spPr>
            <a:xfrm>
              <a:off x="4953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 b="0">
                  <a:solidFill>
                    <a:srgbClr val="64748B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2026-06-06</a:t>
              </a:r>
              <a:endParaRPr sz="750" b="0">
                <a:solidFill>
                  <a:srgbClr val="64748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pic>
        <p:nvPicPr>
          <p:cNvPr id="2" name="Google Shape;176;p1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563745" y="1524000"/>
            <a:ext cx="4199255" cy="2131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Exact Solver Phase</a:t>
            </a:r>
            <a:endParaRPr sz="2400" b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350" b="0">
                <a:solidFill>
                  <a:srgbClr val="06B6D4"/>
                </a:solidFill>
                <a:latin typeface="Inter Medium" panose="02000503000000020004"/>
                <a:ea typeface="Inter Medium" panose="02000503000000020004"/>
                <a:cs typeface="Inter Medium" panose="02000503000000020004"/>
                <a:sym typeface="Inter Medium" panose="02000503000000020004"/>
              </a:rPr>
              <a:t>High-precision endgame optimization</a:t>
            </a:r>
            <a:endParaRPr sz="1350" b="0">
              <a:solidFill>
                <a:srgbClr val="06B6D4"/>
              </a:solidFill>
              <a:latin typeface="Inter Medium" panose="02000503000000020004"/>
              <a:ea typeface="Inter Medium" panose="02000503000000020004"/>
              <a:cs typeface="Inter Medium" panose="02000503000000020004"/>
              <a:sym typeface="Inter Medium" panose="02000503000000020004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381000" y="1115060"/>
            <a:ext cx="7867015" cy="3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b="0">
                <a:solidFill>
                  <a:srgbClr val="FFFFFF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Determinization:</a:t>
            </a:r>
            <a:r>
              <a:rPr lang="en-GB" b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Parallel execution of 6,789 hand allocations to resolve information sets.</a:t>
            </a:r>
            <a:endParaRPr b="0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457200" lvl="0" indent="-317500" algn="l" rtl="0">
              <a:spcBef>
                <a:spcPts val="900"/>
              </a:spcBef>
              <a:spcAft>
                <a:spcPts val="0"/>
              </a:spcAft>
              <a:buSzPts val="1400"/>
              <a:buChar char="●"/>
            </a:pPr>
            <a:r>
              <a:rPr lang="en-GB" b="0">
                <a:solidFill>
                  <a:srgbClr val="FFFFFF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Sampling:</a:t>
            </a:r>
            <a:r>
              <a:rPr lang="en-GB" b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Dynamic pruning of the state space to focus on the top 32 highest-probability hands.</a:t>
            </a:r>
            <a:endParaRPr b="0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457200" lvl="0" indent="-317500" algn="l" rtl="0">
              <a:spcBef>
                <a:spcPts val="900"/>
              </a:spcBef>
              <a:spcAft>
                <a:spcPts val="900"/>
              </a:spcAft>
              <a:buSzPts val="1400"/>
              <a:buChar char="●"/>
            </a:pPr>
            <a:r>
              <a:rPr lang="en-GB" b="0">
                <a:solidFill>
                  <a:srgbClr val="FFFFFF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Alpha-Beta Search:</a:t>
            </a:r>
            <a:r>
              <a:rPr lang="en-GB" b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C++ implementation optimizing for non-linear scoring functions during deep lookahead.</a:t>
            </a:r>
            <a:endParaRPr lang="en-GB" b="0">
              <a:solidFill>
                <a:srgbClr val="CBD5E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216" name="Google Shape;216;p19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217" name="Google Shape;217;p19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8" name="Google Shape;218;p19"/>
            <p:cNvSpPr txBox="1"/>
            <p:nvPr/>
          </p:nvSpPr>
          <p:spPr>
            <a:xfrm>
              <a:off x="381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 b="0">
                  <a:solidFill>
                    <a:srgbClr val="64748B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Deep Learning Project Report</a:t>
              </a:r>
              <a:endParaRPr sz="750" b="0">
                <a:solidFill>
                  <a:srgbClr val="64748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19" name="Google Shape;219;p19"/>
            <p:cNvSpPr txBox="1"/>
            <p:nvPr/>
          </p:nvSpPr>
          <p:spPr>
            <a:xfrm>
              <a:off x="4953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 b="0">
                  <a:solidFill>
                    <a:srgbClr val="64748B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2026-06-06</a:t>
              </a:r>
              <a:endParaRPr sz="750" b="0">
                <a:solidFill>
                  <a:srgbClr val="64748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pic>
        <p:nvPicPr>
          <p:cNvPr id="188" name="Google Shape;188;p2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681480" y="2712720"/>
            <a:ext cx="5841365" cy="1954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6" name="Google Shape;226;p20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Experimental Results</a:t>
            </a:r>
            <a:endParaRPr sz="2400" b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350" b="0">
                <a:solidFill>
                  <a:srgbClr val="06B6D4"/>
                </a:solidFill>
                <a:latin typeface="Inter Medium" panose="02000503000000020004"/>
                <a:ea typeface="Inter Medium" panose="02000503000000020004"/>
                <a:cs typeface="Inter Medium" panose="02000503000000020004"/>
                <a:sym typeface="Inter Medium" panose="02000503000000020004"/>
              </a:rPr>
              <a:t>Performance Evaluation and Error Metrics</a:t>
            </a:r>
            <a:endParaRPr sz="1350" b="0">
              <a:solidFill>
                <a:srgbClr val="06B6D4"/>
              </a:solidFill>
              <a:latin typeface="Inter Medium" panose="02000503000000020004"/>
              <a:ea typeface="Inter Medium" panose="02000503000000020004"/>
              <a:cs typeface="Inter Medium" panose="02000503000000020004"/>
              <a:sym typeface="Inter Medium" panose="02000503000000020004"/>
            </a:endParaRPr>
          </a:p>
        </p:txBody>
      </p:sp>
      <p:grpSp>
        <p:nvGrpSpPr>
          <p:cNvPr id="227" name="Google Shape;227;p20"/>
          <p:cNvGrpSpPr/>
          <p:nvPr/>
        </p:nvGrpSpPr>
        <p:grpSpPr>
          <a:xfrm>
            <a:off x="381000" y="2224405"/>
            <a:ext cx="3221355" cy="2061845"/>
            <a:chOff x="0" y="-285750"/>
            <a:chExt cx="4762500" cy="3048000"/>
          </a:xfrm>
        </p:grpSpPr>
        <p:sp>
          <p:nvSpPr>
            <p:cNvPr id="228" name="Google Shape;228;p20"/>
            <p:cNvSpPr txBox="1"/>
            <p:nvPr/>
          </p:nvSpPr>
          <p:spPr>
            <a:xfrm>
              <a:off x="381000" y="-2857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-GB" sz="825" b="0">
                  <a:solidFill>
                    <a:srgbClr val="CBD5E1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CONTRACT FAILURE RATE (%)</a:t>
              </a:r>
              <a:endParaRPr sz="825" b="0">
                <a:solidFill>
                  <a:srgbClr val="CBD5E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cxnSp>
          <p:nvCxnSpPr>
            <p:cNvPr id="229" name="Google Shape;229;p20"/>
            <p:cNvCxnSpPr/>
            <p:nvPr/>
          </p:nvCxnSpPr>
          <p:spPr>
            <a:xfrm>
              <a:off x="381000" y="0"/>
              <a:ext cx="0" cy="228600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0" name="Google Shape;230;p20"/>
            <p:cNvCxnSpPr/>
            <p:nvPr/>
          </p:nvCxnSpPr>
          <p:spPr>
            <a:xfrm>
              <a:off x="381000" y="2286000"/>
              <a:ext cx="43815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231" name="Google Shape;231;p20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381000" y="1138238"/>
              <a:ext cx="43815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20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381000" y="-4762"/>
              <a:ext cx="43815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20"/>
            <p:cNvSpPr txBox="1"/>
            <p:nvPr/>
          </p:nvSpPr>
          <p:spPr>
            <a:xfrm>
              <a:off x="0" y="2190750"/>
              <a:ext cx="285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-GB" sz="675" b="0">
                  <a:solidFill>
                    <a:srgbClr val="64748B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0</a:t>
              </a:r>
              <a:endParaRPr sz="675" b="0">
                <a:solidFill>
                  <a:srgbClr val="64748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34" name="Google Shape;234;p20"/>
            <p:cNvSpPr txBox="1"/>
            <p:nvPr/>
          </p:nvSpPr>
          <p:spPr>
            <a:xfrm>
              <a:off x="0" y="1047750"/>
              <a:ext cx="285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-GB" sz="675" b="0">
                  <a:solidFill>
                    <a:srgbClr val="64748B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7.5</a:t>
              </a:r>
              <a:endParaRPr sz="675" b="0">
                <a:solidFill>
                  <a:srgbClr val="64748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35" name="Google Shape;235;p20"/>
            <p:cNvSpPr txBox="1"/>
            <p:nvPr/>
          </p:nvSpPr>
          <p:spPr>
            <a:xfrm>
              <a:off x="0" y="-95250"/>
              <a:ext cx="285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-GB" sz="675" b="0">
                  <a:solidFill>
                    <a:srgbClr val="64748B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15</a:t>
              </a:r>
              <a:endParaRPr sz="675" b="0">
                <a:solidFill>
                  <a:srgbClr val="64748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952500" y="457200"/>
              <a:ext cx="952500" cy="182880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" name="Google Shape;237;p20"/>
            <p:cNvSpPr txBox="1"/>
            <p:nvPr/>
          </p:nvSpPr>
          <p:spPr>
            <a:xfrm>
              <a:off x="952500" y="190500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12.0%</a:t>
              </a:r>
              <a:endParaRPr sz="1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38" name="Google Shape;238;p20"/>
            <p:cNvSpPr txBox="1"/>
            <p:nvPr/>
          </p:nvSpPr>
          <p:spPr>
            <a:xfrm>
              <a:off x="952500" y="2381250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-GB" sz="825" b="0">
                  <a:solidFill>
                    <a:srgbClr val="F59E0B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RULE-BASED</a:t>
              </a:r>
              <a:endParaRPr sz="825" b="0">
                <a:solidFill>
                  <a:srgbClr val="F59E0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2857500" y="1409700"/>
              <a:ext cx="952500" cy="8763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" name="Google Shape;240;p20"/>
            <p:cNvSpPr txBox="1"/>
            <p:nvPr/>
          </p:nvSpPr>
          <p:spPr>
            <a:xfrm>
              <a:off x="2857500" y="1143000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06B6D4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5.75%</a:t>
              </a:r>
              <a:endParaRPr sz="1200" b="1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1" name="Google Shape;241;p20"/>
            <p:cNvSpPr txBox="1"/>
            <p:nvPr/>
          </p:nvSpPr>
          <p:spPr>
            <a:xfrm>
              <a:off x="2857500" y="2381250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-GB" sz="825" b="0">
                  <a:solidFill>
                    <a:srgbClr val="06B6D4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RL-EXACT</a:t>
              </a:r>
              <a:endParaRPr sz="825" b="0">
                <a:solidFill>
                  <a:srgbClr val="06B6D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</p:grpSp>
      <p:grpSp>
        <p:nvGrpSpPr>
          <p:cNvPr id="250" name="Google Shape;250;p20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251" name="Google Shape;251;p20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52" name="Google Shape;252;p20"/>
            <p:cNvSpPr txBox="1"/>
            <p:nvPr/>
          </p:nvSpPr>
          <p:spPr>
            <a:xfrm>
              <a:off x="381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 b="0">
                  <a:solidFill>
                    <a:srgbClr val="64748B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Deep Learning Project Report</a:t>
              </a:r>
              <a:endParaRPr sz="750" b="0">
                <a:solidFill>
                  <a:srgbClr val="64748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3" name="Google Shape;253;p20"/>
            <p:cNvSpPr txBox="1"/>
            <p:nvPr/>
          </p:nvSpPr>
          <p:spPr>
            <a:xfrm>
              <a:off x="4953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 b="0">
                  <a:solidFill>
                    <a:srgbClr val="64748B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2026-06-06</a:t>
              </a:r>
              <a:endParaRPr sz="750" b="0">
                <a:solidFill>
                  <a:srgbClr val="64748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pic>
        <p:nvPicPr>
          <p:cNvPr id="4" name="图片 3" descr="19分打rulev2"/>
          <p:cNvPicPr>
            <a:picLocks noChangeAspect="1"/>
          </p:cNvPicPr>
          <p:nvPr/>
        </p:nvPicPr>
        <p:blipFill>
          <a:blip r:embed="rId2"/>
          <a:srcRect b="33802"/>
          <a:stretch>
            <a:fillRect/>
          </a:stretch>
        </p:blipFill>
        <p:spPr>
          <a:xfrm>
            <a:off x="12379325" y="23455630"/>
            <a:ext cx="3600000" cy="2723745"/>
          </a:xfrm>
          <a:prstGeom prst="rect">
            <a:avLst/>
          </a:prstGeom>
        </p:spPr>
      </p:pic>
      <p:pic>
        <p:nvPicPr>
          <p:cNvPr id="2" name="图片 1" descr="19分打rulev2"/>
          <p:cNvPicPr>
            <a:picLocks noChangeAspect="1"/>
          </p:cNvPicPr>
          <p:nvPr/>
        </p:nvPicPr>
        <p:blipFill>
          <a:blip r:embed="rId2"/>
          <a:srcRect b="33802"/>
          <a:stretch>
            <a:fillRect/>
          </a:stretch>
        </p:blipFill>
        <p:spPr>
          <a:xfrm>
            <a:off x="12506325" y="23582630"/>
            <a:ext cx="3600000" cy="2723745"/>
          </a:xfrm>
          <a:prstGeom prst="rect">
            <a:avLst/>
          </a:prstGeom>
        </p:spPr>
      </p:pic>
      <p:pic>
        <p:nvPicPr>
          <p:cNvPr id="3" name="图片 2" descr="19_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115" y="1200785"/>
            <a:ext cx="3941445" cy="29800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6" name="Google Shape;226;p20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Experimental Results</a:t>
            </a:r>
            <a:endParaRPr sz="2400" b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350" b="0">
                <a:solidFill>
                  <a:srgbClr val="06B6D4"/>
                </a:solidFill>
                <a:latin typeface="Inter Medium" panose="02000503000000020004"/>
                <a:ea typeface="Inter Medium" panose="02000503000000020004"/>
                <a:cs typeface="Inter Medium" panose="02000503000000020004"/>
                <a:sym typeface="Inter Medium" panose="02000503000000020004"/>
              </a:rPr>
              <a:t>Performance Evaluation and Error Metrics</a:t>
            </a:r>
            <a:endParaRPr sz="1350" b="0">
              <a:solidFill>
                <a:srgbClr val="06B6D4"/>
              </a:solidFill>
              <a:latin typeface="Inter Medium" panose="02000503000000020004"/>
              <a:ea typeface="Inter Medium" panose="02000503000000020004"/>
              <a:cs typeface="Inter Medium" panose="02000503000000020004"/>
              <a:sym typeface="Inter Medium" panose="02000503000000020004"/>
            </a:endParaRPr>
          </a:p>
        </p:txBody>
      </p:sp>
      <p:grpSp>
        <p:nvGrpSpPr>
          <p:cNvPr id="250" name="Google Shape;250;p20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251" name="Google Shape;251;p20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52" name="Google Shape;252;p20"/>
            <p:cNvSpPr txBox="1"/>
            <p:nvPr/>
          </p:nvSpPr>
          <p:spPr>
            <a:xfrm>
              <a:off x="381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 b="0">
                  <a:solidFill>
                    <a:srgbClr val="64748B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Deep Learning Project Report</a:t>
              </a:r>
              <a:endParaRPr sz="750" b="0">
                <a:solidFill>
                  <a:srgbClr val="64748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3" name="Google Shape;253;p20"/>
            <p:cNvSpPr txBox="1"/>
            <p:nvPr/>
          </p:nvSpPr>
          <p:spPr>
            <a:xfrm>
              <a:off x="4953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 b="0">
                  <a:solidFill>
                    <a:srgbClr val="64748B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2026-06-06</a:t>
              </a:r>
              <a:endParaRPr sz="750" b="0">
                <a:solidFill>
                  <a:srgbClr val="64748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pic>
        <p:nvPicPr>
          <p:cNvPr id="3" name="图片 2" descr="19分打rulev2"/>
          <p:cNvPicPr>
            <a:picLocks noChangeAspect="1"/>
          </p:cNvPicPr>
          <p:nvPr/>
        </p:nvPicPr>
        <p:blipFill>
          <a:blip r:embed="rId1"/>
          <a:srcRect b="33802"/>
          <a:stretch>
            <a:fillRect/>
          </a:stretch>
        </p:blipFill>
        <p:spPr>
          <a:xfrm>
            <a:off x="12379325" y="23455630"/>
            <a:ext cx="3600000" cy="2723745"/>
          </a:xfrm>
          <a:prstGeom prst="rect">
            <a:avLst/>
          </a:prstGeom>
        </p:spPr>
      </p:pic>
      <p:pic>
        <p:nvPicPr>
          <p:cNvPr id="2" name="图片 1" descr="19分打rulev2"/>
          <p:cNvPicPr>
            <a:picLocks noChangeAspect="1"/>
          </p:cNvPicPr>
          <p:nvPr/>
        </p:nvPicPr>
        <p:blipFill>
          <a:blip r:embed="rId1"/>
          <a:srcRect b="33802"/>
          <a:stretch>
            <a:fillRect/>
          </a:stretch>
        </p:blipFill>
        <p:spPr>
          <a:xfrm>
            <a:off x="12506325" y="23582630"/>
            <a:ext cx="3600000" cy="2723745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1422400" y="23774400"/>
            <a:ext cx="11887036" cy="6769530"/>
            <a:chOff x="2240" y="40992"/>
            <a:chExt cx="21965" cy="12509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rcRect b="4389"/>
            <a:stretch>
              <a:fillRect/>
            </a:stretch>
          </p:blipFill>
          <p:spPr>
            <a:xfrm>
              <a:off x="2240" y="41642"/>
              <a:ext cx="20948" cy="11859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2241" y="40992"/>
              <a:ext cx="21964" cy="13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4000" b="1">
                  <a:latin typeface="Times New Roman" panose="02020603050405020304" charset="0"/>
                  <a:cs typeface="Times New Roman" panose="02020603050405020304" charset="0"/>
                </a:rPr>
                <a:t>Evaluation Results (with the same bidding)</a:t>
              </a:r>
              <a:endParaRPr lang="en-US" altLang="zh-CN" sz="4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860" y="473710"/>
            <a:ext cx="3587750" cy="42887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81635" y="1621790"/>
            <a:ext cx="4362450" cy="909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800">
                <a:solidFill>
                  <a:schemeClr val="bg1"/>
                </a:solidFill>
              </a:rPr>
              <a:t>Better than MCTS and Rule-Based baselines! </a:t>
            </a:r>
            <a:endParaRPr lang="en-US" altLang="zh-CN" sz="1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59" name="Google Shape;259;p2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0" name="Google Shape;260;p21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261" name="Google Shape;261;p21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2" name="Google Shape;262;p21"/>
            <p:cNvSpPr txBox="1"/>
            <p:nvPr/>
          </p:nvSpPr>
          <p:spPr>
            <a:xfrm>
              <a:off x="381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 b="0">
                  <a:solidFill>
                    <a:srgbClr val="64748B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Deep Learning Project Report</a:t>
              </a:r>
              <a:endParaRPr sz="750" b="0">
                <a:solidFill>
                  <a:srgbClr val="64748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3" name="Google Shape;263;p21"/>
            <p:cNvSpPr txBox="1"/>
            <p:nvPr/>
          </p:nvSpPr>
          <p:spPr>
            <a:xfrm>
              <a:off x="4953000" y="4857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 b="0">
                  <a:solidFill>
                    <a:srgbClr val="64748B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2026-06-06</a:t>
              </a:r>
              <a:endParaRPr sz="750" b="0">
                <a:solidFill>
                  <a:srgbClr val="64748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264" name="Google Shape;264;p21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4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Takeaways</a:t>
            </a:r>
            <a:endParaRPr sz="2400" b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350" b="0">
                <a:solidFill>
                  <a:srgbClr val="06B6D4"/>
                </a:solidFill>
                <a:latin typeface="Inter Medium" panose="02000503000000020004"/>
                <a:ea typeface="Inter Medium" panose="02000503000000020004"/>
                <a:cs typeface="Inter Medium" panose="02000503000000020004"/>
                <a:sym typeface="Inter Medium" panose="02000503000000020004"/>
              </a:rPr>
              <a:t>Framework Wrap-up and Future Implications</a:t>
            </a:r>
            <a:endParaRPr sz="1350" b="0">
              <a:solidFill>
                <a:srgbClr val="06B6D4"/>
              </a:solidFill>
              <a:latin typeface="Inter Medium" panose="02000503000000020004"/>
              <a:ea typeface="Inter Medium" panose="02000503000000020004"/>
              <a:cs typeface="Inter Medium" panose="02000503000000020004"/>
              <a:sym typeface="Inter Medium" panose="02000503000000020004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96520" y="1333500"/>
            <a:ext cx="8147685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altLang="en-GB" sz="1800" b="1">
                <a:solidFill>
                  <a:schemeClr val="bg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Integrating Solver or non-neural-network architectures is beneficial.</a:t>
            </a:r>
            <a:endParaRPr lang="en-US" altLang="en-GB" sz="1800" b="1">
              <a:solidFill>
                <a:schemeClr val="bg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altLang="en-GB" sz="1800" b="1">
                <a:solidFill>
                  <a:schemeClr val="bg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(Solver may be even faster than NNs.)</a:t>
            </a:r>
            <a:endParaRPr lang="en-US" altLang="en-GB" sz="1800" b="1">
              <a:solidFill>
                <a:schemeClr val="bg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-US" altLang="en-GB" sz="1800" b="1">
              <a:solidFill>
                <a:schemeClr val="bg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altLang="en-GB" sz="1800" b="1">
                <a:solidFill>
                  <a:schemeClr val="bg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Inductive Bias accelerates training.</a:t>
            </a:r>
            <a:endParaRPr lang="en-GB" sz="1800" b="1">
              <a:solidFill>
                <a:schemeClr val="bg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-GB" b="1">
              <a:solidFill>
                <a:schemeClr val="bg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457200" lvl="0" indent="-317500" algn="l" rtl="0">
              <a:spcBef>
                <a:spcPts val="900"/>
              </a:spcBef>
              <a:spcAft>
                <a:spcPts val="0"/>
              </a:spcAft>
              <a:buSzPts val="1400"/>
              <a:buChar char="●"/>
            </a:pPr>
            <a:endParaRPr lang="en-GB" b="1">
              <a:solidFill>
                <a:schemeClr val="bg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2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3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4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5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6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7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8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9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10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11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12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13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14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15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16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17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18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19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20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21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22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23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24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25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26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27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ags/tag28.xml><?xml version="1.0" encoding="utf-8"?>
<p:tagLst xmlns:p="http://schemas.openxmlformats.org/presentationml/2006/main">
  <p:tag name="KSO_WM_DIAGRAM_VIRTUALLY_FRAME" val="{&quot;height&quot;:195.35,&quot;left&quot;:30,&quot;top&quot;:120,&quot;width&quot;:660}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2852</Words>
  <Application>WPS 演示</Application>
  <PresentationFormat/>
  <Paragraphs>119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宋体</vt:lpstr>
      <vt:lpstr>Wingdings</vt:lpstr>
      <vt:lpstr>Arial</vt:lpstr>
      <vt:lpstr>Space Grotesk Medium</vt:lpstr>
      <vt:lpstr>Space Grotesk SemiBold</vt:lpstr>
      <vt:lpstr>Space Grotesk</vt:lpstr>
      <vt:lpstr>Inter Medium</vt:lpstr>
      <vt:lpstr>Inter SemiBold</vt:lpstr>
      <vt:lpstr>Inter</vt:lpstr>
      <vt:lpstr>Times New Roman</vt:lpstr>
      <vt:lpstr>微软雅黑</vt:lpstr>
      <vt:lpstr>Arial Unicode MS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徐邦杰(2025011026)</cp:lastModifiedBy>
  <cp:revision>5</cp:revision>
  <dcterms:created xsi:type="dcterms:W3CDTF">2026-06-07T10:11:00Z</dcterms:created>
  <dcterms:modified xsi:type="dcterms:W3CDTF">2026-06-07T16:05:51Z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1A6B9327639C4DA79C0FD1130145C10F_12</vt:lpwstr>
  </property>
</Properties>
</file>