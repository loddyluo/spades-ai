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30238700" cy="3960304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29" d="100"/>
          <a:sy n="29" d="100"/>
        </p:scale>
        <p:origin x="393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36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74988-189D-463D-9721-A6F5688AEE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51075" y="1143000"/>
            <a:ext cx="2355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E4A36-E06D-4782-BC5D-D427785D0D9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903" y="6481387"/>
            <a:ext cx="25702895" cy="13787837"/>
          </a:xfrm>
        </p:spPr>
        <p:txBody>
          <a:bodyPr anchor="b"/>
          <a:lstStyle>
            <a:lvl1pPr algn="ctr">
              <a:defRPr sz="19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800936"/>
            <a:ext cx="22679025" cy="9561642"/>
          </a:xfrm>
        </p:spPr>
        <p:txBody>
          <a:bodyPr/>
          <a:lstStyle>
            <a:lvl1pPr marL="0" indent="0" algn="ctr">
              <a:buNone/>
              <a:defRPr sz="7935"/>
            </a:lvl1pPr>
            <a:lvl2pPr marL="1511935" indent="0" algn="ctr">
              <a:buNone/>
              <a:defRPr sz="6615"/>
            </a:lvl2pPr>
            <a:lvl3pPr marL="3023870" indent="0" algn="ctr">
              <a:buNone/>
              <a:defRPr sz="5950"/>
            </a:lvl3pPr>
            <a:lvl4pPr marL="4535805" indent="0" algn="ctr">
              <a:buNone/>
              <a:defRPr sz="5290"/>
            </a:lvl4pPr>
            <a:lvl5pPr marL="6047740" indent="0" algn="ctr">
              <a:buNone/>
              <a:defRPr sz="5290"/>
            </a:lvl5pPr>
            <a:lvl6pPr marL="7559675" indent="0" algn="ctr">
              <a:buNone/>
              <a:defRPr sz="5290"/>
            </a:lvl6pPr>
            <a:lvl7pPr marL="9071610" indent="0" algn="ctr">
              <a:buNone/>
              <a:defRPr sz="5290"/>
            </a:lvl7pPr>
            <a:lvl8pPr marL="10583545" indent="0" algn="ctr">
              <a:buNone/>
              <a:defRPr sz="5290"/>
            </a:lvl8pPr>
            <a:lvl9pPr marL="12095480" indent="0" algn="ctr">
              <a:buNone/>
              <a:defRPr sz="52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163" y="9873350"/>
            <a:ext cx="26080879" cy="16473896"/>
          </a:xfrm>
        </p:spPr>
        <p:txBody>
          <a:bodyPr anchor="b"/>
          <a:lstStyle>
            <a:lvl1pPr>
              <a:defRPr sz="198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163" y="26503095"/>
            <a:ext cx="26080879" cy="8663233"/>
          </a:xfrm>
        </p:spPr>
        <p:txBody>
          <a:bodyPr/>
          <a:lstStyle>
            <a:lvl1pPr marL="0" indent="0">
              <a:buNone/>
              <a:defRPr sz="7935">
                <a:solidFill>
                  <a:schemeClr val="tx1"/>
                </a:solidFill>
              </a:defRPr>
            </a:lvl1pPr>
            <a:lvl2pPr marL="1511935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2pPr>
            <a:lvl3pPr marL="3023870" indent="0">
              <a:buNone/>
              <a:defRPr sz="5950">
                <a:solidFill>
                  <a:schemeClr val="tx1">
                    <a:tint val="75000"/>
                  </a:schemeClr>
                </a:solidFill>
              </a:defRPr>
            </a:lvl3pPr>
            <a:lvl4pPr marL="453580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4pPr>
            <a:lvl5pPr marL="604774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5pPr>
            <a:lvl6pPr marL="755967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6pPr>
            <a:lvl7pPr marL="907161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7pPr>
            <a:lvl8pPr marL="1058354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8pPr>
            <a:lvl9pPr marL="1209548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910" y="10542562"/>
            <a:ext cx="12851448" cy="25127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8342" y="10542562"/>
            <a:ext cx="12851448" cy="25127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108521"/>
            <a:ext cx="26080879" cy="76548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853" y="9708327"/>
            <a:ext cx="12792385" cy="4757901"/>
          </a:xfrm>
        </p:spPr>
        <p:txBody>
          <a:bodyPr anchor="b"/>
          <a:lstStyle>
            <a:lvl1pPr marL="0" indent="0">
              <a:buNone/>
              <a:defRPr sz="7935" b="1"/>
            </a:lvl1pPr>
            <a:lvl2pPr marL="1511935" indent="0">
              <a:buNone/>
              <a:defRPr sz="6615" b="1"/>
            </a:lvl2pPr>
            <a:lvl3pPr marL="3023870" indent="0">
              <a:buNone/>
              <a:defRPr sz="5950" b="1"/>
            </a:lvl3pPr>
            <a:lvl4pPr marL="4535805" indent="0">
              <a:buNone/>
              <a:defRPr sz="5290" b="1"/>
            </a:lvl4pPr>
            <a:lvl5pPr marL="6047740" indent="0">
              <a:buNone/>
              <a:defRPr sz="5290" b="1"/>
            </a:lvl5pPr>
            <a:lvl6pPr marL="7559675" indent="0">
              <a:buNone/>
              <a:defRPr sz="5290" b="1"/>
            </a:lvl6pPr>
            <a:lvl7pPr marL="9071610" indent="0">
              <a:buNone/>
              <a:defRPr sz="5290" b="1"/>
            </a:lvl7pPr>
            <a:lvl8pPr marL="10583545" indent="0">
              <a:buNone/>
              <a:defRPr sz="5290" b="1"/>
            </a:lvl8pPr>
            <a:lvl9pPr marL="12095480" indent="0">
              <a:buNone/>
              <a:defRPr sz="529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853" y="14466228"/>
            <a:ext cx="12792385" cy="21277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8344" y="9708327"/>
            <a:ext cx="12855386" cy="4757901"/>
          </a:xfrm>
        </p:spPr>
        <p:txBody>
          <a:bodyPr anchor="b"/>
          <a:lstStyle>
            <a:lvl1pPr marL="0" indent="0">
              <a:buNone/>
              <a:defRPr sz="7935" b="1"/>
            </a:lvl1pPr>
            <a:lvl2pPr marL="1511935" indent="0">
              <a:buNone/>
              <a:defRPr sz="6615" b="1"/>
            </a:lvl2pPr>
            <a:lvl3pPr marL="3023870" indent="0">
              <a:buNone/>
              <a:defRPr sz="5950" b="1"/>
            </a:lvl3pPr>
            <a:lvl4pPr marL="4535805" indent="0">
              <a:buNone/>
              <a:defRPr sz="5290" b="1"/>
            </a:lvl4pPr>
            <a:lvl5pPr marL="6047740" indent="0">
              <a:buNone/>
              <a:defRPr sz="5290" b="1"/>
            </a:lvl5pPr>
            <a:lvl6pPr marL="7559675" indent="0">
              <a:buNone/>
              <a:defRPr sz="5290" b="1"/>
            </a:lvl6pPr>
            <a:lvl7pPr marL="9071610" indent="0">
              <a:buNone/>
              <a:defRPr sz="5290" b="1"/>
            </a:lvl7pPr>
            <a:lvl8pPr marL="10583545" indent="0">
              <a:buNone/>
              <a:defRPr sz="5290" b="1"/>
            </a:lvl8pPr>
            <a:lvl9pPr marL="12095480" indent="0">
              <a:buNone/>
              <a:defRPr sz="529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8344" y="14466228"/>
            <a:ext cx="12855386" cy="21277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640224"/>
            <a:ext cx="9752768" cy="9240785"/>
          </a:xfrm>
        </p:spPr>
        <p:txBody>
          <a:bodyPr anchor="b"/>
          <a:lstStyle>
            <a:lvl1pPr>
              <a:defRPr sz="105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5386" y="5702159"/>
            <a:ext cx="15308342" cy="28144057"/>
          </a:xfrm>
        </p:spPr>
        <p:txBody>
          <a:bodyPr/>
          <a:lstStyle>
            <a:lvl1pPr>
              <a:defRPr sz="10580"/>
            </a:lvl1pPr>
            <a:lvl2pPr>
              <a:defRPr sz="9260"/>
            </a:lvl2pPr>
            <a:lvl3pPr>
              <a:defRPr sz="7935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849" y="11881009"/>
            <a:ext cx="9752768" cy="22011039"/>
          </a:xfrm>
        </p:spPr>
        <p:txBody>
          <a:bodyPr/>
          <a:lstStyle>
            <a:lvl1pPr marL="0" indent="0">
              <a:buNone/>
              <a:defRPr sz="5290"/>
            </a:lvl1pPr>
            <a:lvl2pPr marL="1511935" indent="0">
              <a:buNone/>
              <a:defRPr sz="4630"/>
            </a:lvl2pPr>
            <a:lvl3pPr marL="3023870" indent="0">
              <a:buNone/>
              <a:defRPr sz="3970"/>
            </a:lvl3pPr>
            <a:lvl4pPr marL="4535805" indent="0">
              <a:buNone/>
              <a:defRPr sz="3305"/>
            </a:lvl4pPr>
            <a:lvl5pPr marL="6047740" indent="0">
              <a:buNone/>
              <a:defRPr sz="3305"/>
            </a:lvl5pPr>
            <a:lvl6pPr marL="7559675" indent="0">
              <a:buNone/>
              <a:defRPr sz="3305"/>
            </a:lvl6pPr>
            <a:lvl7pPr marL="9071610" indent="0">
              <a:buNone/>
              <a:defRPr sz="3305"/>
            </a:lvl7pPr>
            <a:lvl8pPr marL="10583545" indent="0">
              <a:buNone/>
              <a:defRPr sz="3305"/>
            </a:lvl8pPr>
            <a:lvl9pPr marL="12095480" indent="0">
              <a:buNone/>
              <a:defRPr sz="33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849" y="2640224"/>
            <a:ext cx="9752768" cy="9240785"/>
          </a:xfrm>
        </p:spPr>
        <p:txBody>
          <a:bodyPr anchor="b"/>
          <a:lstStyle>
            <a:lvl1pPr>
              <a:defRPr sz="105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5386" y="5702159"/>
            <a:ext cx="15308342" cy="28144057"/>
          </a:xfrm>
        </p:spPr>
        <p:txBody>
          <a:bodyPr anchor="t"/>
          <a:lstStyle>
            <a:lvl1pPr marL="0" indent="0">
              <a:buNone/>
              <a:defRPr sz="10580"/>
            </a:lvl1pPr>
            <a:lvl2pPr marL="1511935" indent="0">
              <a:buNone/>
              <a:defRPr sz="9260"/>
            </a:lvl2pPr>
            <a:lvl3pPr marL="3023870" indent="0">
              <a:buNone/>
              <a:defRPr sz="7935"/>
            </a:lvl3pPr>
            <a:lvl4pPr marL="4535805" indent="0">
              <a:buNone/>
              <a:defRPr sz="6615"/>
            </a:lvl4pPr>
            <a:lvl5pPr marL="6047740" indent="0">
              <a:buNone/>
              <a:defRPr sz="6615"/>
            </a:lvl5pPr>
            <a:lvl6pPr marL="7559675" indent="0">
              <a:buNone/>
              <a:defRPr sz="6615"/>
            </a:lvl6pPr>
            <a:lvl7pPr marL="9071610" indent="0">
              <a:buNone/>
              <a:defRPr sz="6615"/>
            </a:lvl7pPr>
            <a:lvl8pPr marL="10583545" indent="0">
              <a:buNone/>
              <a:defRPr sz="6615"/>
            </a:lvl8pPr>
            <a:lvl9pPr marL="12095480" indent="0">
              <a:buNone/>
              <a:defRPr sz="66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849" y="11881009"/>
            <a:ext cx="9752768" cy="22011039"/>
          </a:xfrm>
        </p:spPr>
        <p:txBody>
          <a:bodyPr/>
          <a:lstStyle>
            <a:lvl1pPr marL="0" indent="0">
              <a:buNone/>
              <a:defRPr sz="5290"/>
            </a:lvl1pPr>
            <a:lvl2pPr marL="1511935" indent="0">
              <a:buNone/>
              <a:defRPr sz="4630"/>
            </a:lvl2pPr>
            <a:lvl3pPr marL="3023870" indent="0">
              <a:buNone/>
              <a:defRPr sz="3970"/>
            </a:lvl3pPr>
            <a:lvl4pPr marL="4535805" indent="0">
              <a:buNone/>
              <a:defRPr sz="3305"/>
            </a:lvl4pPr>
            <a:lvl5pPr marL="6047740" indent="0">
              <a:buNone/>
              <a:defRPr sz="3305"/>
            </a:lvl5pPr>
            <a:lvl6pPr marL="7559675" indent="0">
              <a:buNone/>
              <a:defRPr sz="3305"/>
            </a:lvl6pPr>
            <a:lvl7pPr marL="9071610" indent="0">
              <a:buNone/>
              <a:defRPr sz="3305"/>
            </a:lvl7pPr>
            <a:lvl8pPr marL="10583545" indent="0">
              <a:buNone/>
              <a:defRPr sz="3305"/>
            </a:lvl8pPr>
            <a:lvl9pPr marL="12095480" indent="0">
              <a:buNone/>
              <a:defRPr sz="33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39571" y="2108512"/>
            <a:ext cx="6520220" cy="335620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8912" y="2108512"/>
            <a:ext cx="19182675" cy="335620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8911" y="2108521"/>
            <a:ext cx="26080879" cy="7654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911" y="10542562"/>
            <a:ext cx="26080879" cy="2512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8910" y="36706459"/>
            <a:ext cx="6803708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F804C-A4CA-4EAE-83CC-47A6A143B1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6570" y="36706459"/>
            <a:ext cx="10205561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6082" y="36706459"/>
            <a:ext cx="6803708" cy="2108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DD054-717A-4290-864C-E720CDDD18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3023870" rtl="0" eaLnBrk="1" latinLnBrk="0" hangingPunct="1">
        <a:lnSpc>
          <a:spcPct val="90000"/>
        </a:lnSpc>
        <a:spcBef>
          <a:spcPct val="0"/>
        </a:spcBef>
        <a:buNone/>
        <a:defRPr sz="14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5650" indent="-755650" algn="l" defTabSz="3023870" rtl="0" eaLnBrk="1" latinLnBrk="0" hangingPunct="1">
        <a:lnSpc>
          <a:spcPct val="90000"/>
        </a:lnSpc>
        <a:spcBef>
          <a:spcPts val="3305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758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35" kern="1200">
          <a:solidFill>
            <a:schemeClr val="tx1"/>
          </a:solidFill>
          <a:latin typeface="+mn-lt"/>
          <a:ea typeface="+mn-ea"/>
          <a:cs typeface="+mn-cs"/>
        </a:defRPr>
      </a:lvl2pPr>
      <a:lvl3pPr marL="377952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29145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4pPr>
      <a:lvl5pPr marL="680339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5pPr>
      <a:lvl6pPr marL="831532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6pPr>
      <a:lvl7pPr marL="982726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7pPr>
      <a:lvl8pPr marL="11339195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8pPr>
      <a:lvl9pPr marL="12851130" indent="-755650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1pPr>
      <a:lvl2pPr marL="151193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2pPr>
      <a:lvl3pPr marL="302387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3pPr>
      <a:lvl4pPr marL="453580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4pPr>
      <a:lvl5pPr marL="604774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5pPr>
      <a:lvl6pPr marL="755967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6pPr>
      <a:lvl7pPr marL="907161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7pPr>
      <a:lvl8pPr marL="10583545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8pPr>
      <a:lvl9pPr marL="12095480" algn="l" defTabSz="3023870" rtl="0" eaLnBrk="1" latinLnBrk="0" hangingPunct="1">
        <a:defRPr sz="5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屏幕快照 2020-07-24 下午3.08.05.png" descr="屏幕快照 2020-07-24 下午3.08.05.png"/>
          <p:cNvPicPr>
            <a:picLocks noChangeAspect="1"/>
          </p:cNvPicPr>
          <p:nvPr/>
        </p:nvPicPr>
        <p:blipFill rotWithShape="1">
          <a:blip r:embed="rId1"/>
          <a:srcRect t="31948" r="50000"/>
          <a:stretch>
            <a:fillRect/>
          </a:stretch>
        </p:blipFill>
        <p:spPr>
          <a:xfrm>
            <a:off x="2" y="12"/>
            <a:ext cx="30238700" cy="20817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25" y="326606"/>
            <a:ext cx="11514699" cy="1580019"/>
          </a:xfrm>
          <a:prstGeom prst="rect">
            <a:avLst/>
          </a:prstGeom>
        </p:spPr>
      </p:pic>
      <p:pic>
        <p:nvPicPr>
          <p:cNvPr id="4" name="屏幕快照 2020-07-24 下午3.08.05.png" descr="屏幕快照 2020-07-24 下午3.08.05.png"/>
          <p:cNvPicPr>
            <a:picLocks noChangeAspect="1"/>
          </p:cNvPicPr>
          <p:nvPr/>
        </p:nvPicPr>
        <p:blipFill rotWithShape="1">
          <a:blip r:embed="rId1"/>
          <a:srcRect t="31948" r="50000"/>
          <a:stretch>
            <a:fillRect/>
          </a:stretch>
        </p:blipFill>
        <p:spPr>
          <a:xfrm>
            <a:off x="0" y="37896799"/>
            <a:ext cx="30238700" cy="17065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itle 1"/>
          <p:cNvSpPr txBox="1"/>
          <p:nvPr/>
        </p:nvSpPr>
        <p:spPr>
          <a:xfrm>
            <a:off x="4121785" y="4013835"/>
            <a:ext cx="21995765" cy="2999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0238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altLang="zh-CN" sz="5400" dirty="0"/>
              <a:t>Haoren Luo, Bangjie Xu, Yueyang Wang</a:t>
            </a:r>
            <a:endParaRPr lang="en-US" altLang="zh-CN" sz="5400" dirty="0"/>
          </a:p>
          <a:p>
            <a:pPr algn="ctr">
              <a:lnSpc>
                <a:spcPct val="150000"/>
              </a:lnSpc>
            </a:pPr>
            <a:r>
              <a:rPr lang="en-US" sz="4000" dirty="0"/>
              <a:t>(Equal Contribution)</a:t>
            </a:r>
            <a:endParaRPr lang="en-US" sz="4000" dirty="0"/>
          </a:p>
        </p:txBody>
      </p:sp>
      <p:sp>
        <p:nvSpPr>
          <p:cNvPr id="7" name="Title 1"/>
          <p:cNvSpPr txBox="1"/>
          <p:nvPr/>
        </p:nvSpPr>
        <p:spPr>
          <a:xfrm>
            <a:off x="1013460" y="2795270"/>
            <a:ext cx="28211145" cy="1562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0238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altLang="zh-CN" sz="7200" dirty="0"/>
              <a:t>Towards Lightweight Human-Level AI in Trick-Taking Games</a:t>
            </a:r>
            <a:r>
              <a:rPr lang="en-US" altLang="zh-CN" sz="6600" dirty="0"/>
              <a:t> </a:t>
            </a:r>
            <a:endParaRPr lang="en-US" altLang="zh-CN" sz="4800" dirty="0"/>
          </a:p>
          <a:p>
            <a:pPr algn="ctr"/>
            <a:r>
              <a:rPr lang="en-US" altLang="zh-CN" sz="6000" dirty="0"/>
              <a:t>— An Odyssey in Spades</a:t>
            </a:r>
            <a:endParaRPr lang="en-US" altLang="zh-CN" sz="6000" dirty="0"/>
          </a:p>
        </p:txBody>
      </p:sp>
      <p:sp>
        <p:nvSpPr>
          <p:cNvPr id="9" name="文本框 8"/>
          <p:cNvSpPr txBox="1"/>
          <p:nvPr/>
        </p:nvSpPr>
        <p:spPr>
          <a:xfrm>
            <a:off x="597825" y="38288415"/>
            <a:ext cx="89643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Deep </a:t>
            </a:r>
            <a:r>
              <a:rPr lang="en-US" altLang="zh-CN" sz="5400">
                <a:solidFill>
                  <a:schemeClr val="bg1"/>
                </a:solidFill>
              </a:rPr>
              <a:t>Learning 2026 </a:t>
            </a:r>
            <a:r>
              <a:rPr lang="en-US" altLang="zh-CN" sz="5400" dirty="0">
                <a:solidFill>
                  <a:schemeClr val="bg1"/>
                </a:solidFill>
              </a:rPr>
              <a:t>Spring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10631805"/>
            <a:ext cx="19468465" cy="129794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22400" y="6220460"/>
            <a:ext cx="274110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>
                <a:latin typeface="Times New Roman" panose="02020603050405020304" charset="0"/>
                <a:cs typeface="Times New Roman" panose="02020603050405020304" charset="0"/>
              </a:rPr>
              <a:t>We have implemented a Reinforcement Learning policy MLP then sample-based exact solver Spades AI “rl_exact”. Evaluation with two skillful human players has shown that our model reaches human-level. When deployed on a single core CPU, the running time per action of our AI is approximately </a:t>
            </a:r>
            <a:r>
              <a:rPr lang="en-US" altLang="zh-CN" sz="5400" b="1" u="sng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en-US" altLang="zh-CN" sz="5400">
                <a:latin typeface="Times New Roman" panose="02020603050405020304" charset="0"/>
                <a:cs typeface="Times New Roman" panose="02020603050405020304" charset="0"/>
              </a:rPr>
              <a:t> seconds. The reinforcement learning training time is only </a:t>
            </a:r>
            <a:r>
              <a:rPr lang="en-US" altLang="zh-CN" sz="5400" b="1" u="sng">
                <a:latin typeface="Times New Roman" panose="02020603050405020304" charset="0"/>
                <a:cs typeface="Times New Roman" panose="02020603050405020304" charset="0"/>
              </a:rPr>
              <a:t>20</a:t>
            </a:r>
            <a:r>
              <a:rPr lang="en-US" altLang="zh-CN" sz="5400">
                <a:latin typeface="Times New Roman" panose="02020603050405020304" charset="0"/>
                <a:cs typeface="Times New Roman" panose="02020603050405020304" charset="0"/>
              </a:rPr>
              <a:t> minutes.</a:t>
            </a:r>
            <a:endParaRPr lang="en-US" altLang="zh-CN" sz="5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46939" y="23774400"/>
            <a:ext cx="12324310" cy="6757624"/>
            <a:chOff x="1731" y="40992"/>
            <a:chExt cx="22773" cy="12487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rcRect b="4389"/>
            <a:stretch>
              <a:fillRect/>
            </a:stretch>
          </p:blipFill>
          <p:spPr>
            <a:xfrm>
              <a:off x="5270" y="44374"/>
              <a:ext cx="16083" cy="9105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731" y="40992"/>
              <a:ext cx="22773" cy="3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000" b="1">
                  <a:latin typeface="Times New Roman" panose="02020603050405020304" charset="0"/>
                  <a:cs typeface="Times New Roman" panose="02020603050405020304" charset="0"/>
                </a:rPr>
                <a:t>Evaluation Results (with the same bidding)</a:t>
              </a:r>
              <a:endParaRPr lang="en-US" altLang="zh-CN" sz="4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4000" b="1">
                  <a:latin typeface="Times New Roman" panose="02020603050405020304" charset="0"/>
                  <a:cs typeface="Times New Roman" panose="02020603050405020304" charset="0"/>
                </a:rPr>
                <a:t>  </a:t>
              </a:r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means when two </a:t>
              </a:r>
              <a:r>
                <a:rPr lang="en-US" altLang="zh-CN" sz="4000" i="1">
                  <a:latin typeface="Times New Roman" panose="02020603050405020304" charset="0"/>
                  <a:cs typeface="Times New Roman" panose="02020603050405020304" charset="0"/>
                </a:rPr>
                <a:t>X</a:t>
              </a:r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 play against two </a:t>
              </a:r>
              <a:r>
                <a:rPr lang="en-US" altLang="zh-CN" sz="4000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,</a:t>
              </a:r>
              <a:endParaRPr lang="en-US" altLang="zh-CN" sz="40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it is expected that </a:t>
              </a:r>
              <a:r>
                <a:rPr lang="en-US" altLang="zh-CN" sz="4000" i="1">
                  <a:latin typeface="Times New Roman" panose="02020603050405020304" charset="0"/>
                  <a:cs typeface="Times New Roman" panose="02020603050405020304" charset="0"/>
                </a:rPr>
                <a:t>X</a:t>
              </a:r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 can earn </a:t>
              </a:r>
              <a:r>
                <a:rPr lang="en-US" altLang="zh-CN" sz="4000" i="1"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 more score than </a:t>
              </a:r>
              <a:r>
                <a:rPr lang="en-US" altLang="zh-CN" sz="4000" i="1">
                  <a:latin typeface="Times New Roman" panose="02020603050405020304" charset="0"/>
                  <a:cs typeface="Times New Roman" panose="02020603050405020304" charset="0"/>
                </a:rPr>
                <a:t>Y</a:t>
              </a:r>
              <a:r>
                <a:rPr lang="en-US" altLang="zh-CN" sz="4000">
                  <a:latin typeface="Times New Roman" panose="02020603050405020304" charset="0"/>
                  <a:cs typeface="Times New Roman" panose="02020603050405020304" charset="0"/>
                </a:rPr>
                <a:t> per game. </a:t>
              </a:r>
              <a:endParaRPr lang="en-US" altLang="zh-CN" sz="4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786620" y="9761855"/>
            <a:ext cx="106832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>
                <a:latin typeface="Times New Roman" panose="02020603050405020304" charset="0"/>
                <a:cs typeface="Times New Roman" panose="02020603050405020304" charset="0"/>
              </a:rPr>
              <a:t>Model Architecture</a:t>
            </a:r>
            <a:endParaRPr lang="en-US" altLang="zh-CN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095" y="31375985"/>
            <a:ext cx="10097135" cy="57251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908675" y="30532070"/>
            <a:ext cx="3009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>
                <a:latin typeface="Times New Roman" panose="02020603050405020304" charset="0"/>
                <a:cs typeface="Times New Roman" panose="02020603050405020304" charset="0"/>
              </a:rPr>
              <a:t>GUI</a:t>
            </a:r>
            <a:endParaRPr lang="en-US" altLang="zh-CN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 descr="19分打rulev2"/>
          <p:cNvPicPr>
            <a:picLocks noChangeAspect="1"/>
          </p:cNvPicPr>
          <p:nvPr/>
        </p:nvPicPr>
        <p:blipFill>
          <a:blip r:embed="rId6"/>
          <a:srcRect b="33802"/>
          <a:stretch>
            <a:fillRect/>
          </a:stretch>
        </p:blipFill>
        <p:spPr>
          <a:xfrm>
            <a:off x="13309600" y="25956895"/>
            <a:ext cx="14729460" cy="111442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3309600" y="24060150"/>
            <a:ext cx="151257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4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Experiment results with our strongest rule based model (with the same bidding, Team of Four)</a:t>
            </a:r>
            <a:endParaRPr lang="en-US" altLang="zh-CN" sz="4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rcRect l="132" t="11905"/>
          <a:stretch>
            <a:fillRect/>
          </a:stretch>
        </p:blipFill>
        <p:spPr>
          <a:xfrm>
            <a:off x="1962150" y="24368760"/>
            <a:ext cx="1438275" cy="704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774</Words>
  <Application>WPS 演示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Verdana</vt:lpstr>
      <vt:lpstr>Sans Serif Collection</vt:lpstr>
      <vt:lpstr>Times New Roman</vt:lpstr>
      <vt:lpstr>Calibri</vt:lpstr>
      <vt:lpstr>微软雅黑</vt:lpstr>
      <vt:lpstr>Arial Unicode MS</vt:lpstr>
      <vt:lpstr>等线 Light</vt:lpstr>
      <vt:lpstr>Calibri Light</vt:lpstr>
      <vt:lpstr>等线</vt:lpstr>
      <vt:lpstr>Cambria Math</vt:lpstr>
      <vt:lpstr>CMU Serif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IIIS</dc:creator>
  <cp:lastModifiedBy>徐邦杰(2025011026)</cp:lastModifiedBy>
  <cp:revision>12</cp:revision>
  <dcterms:created xsi:type="dcterms:W3CDTF">2023-12-12T06:09:00Z</dcterms:created>
  <dcterms:modified xsi:type="dcterms:W3CDTF">2026-06-05T11:24:01Z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57426DD7E48446BEAF07FF9DE4F81D0D_12</vt:lpwstr>
  </property>
</Properties>
</file>